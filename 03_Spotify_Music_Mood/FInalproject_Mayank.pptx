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Mood (valence)</c:v>
                </c:pt>
              </c:strCache>
            </c:strRef>
          </c:tx>
          <c:spPr>
            <a:ln w="38100" cap="flat">
              <a:solidFill>
                <a:srgbClr val="E2213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22134"/>
              </a:solidFill>
              <a:ln w="9525" cap="flat">
                <a:solidFill>
                  <a:srgbClr val="E22134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1960s</c:v>
                </c:pt>
                <c:pt idx="1">
                  <c:v>1970s</c:v>
                </c:pt>
                <c:pt idx="2">
                  <c:v>1980s</c:v>
                </c:pt>
                <c:pt idx="3">
                  <c:v>1990s</c:v>
                </c:pt>
                <c:pt idx="4">
                  <c:v>2000s</c:v>
                </c:pt>
                <c:pt idx="5">
                  <c:v>2010s</c:v>
                </c:pt>
                <c:pt idx="6">
                  <c:v>2020s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0.62</c:v>
                </c:pt>
                <c:pt idx="1">
                  <c:v>0.61</c:v>
                </c:pt>
                <c:pt idx="2">
                  <c:v>0.57999999999999996</c:v>
                </c:pt>
                <c:pt idx="3">
                  <c:v>0.56000000000000005</c:v>
                </c:pt>
                <c:pt idx="4">
                  <c:v>0.52</c:v>
                </c:pt>
                <c:pt idx="5">
                  <c:v>0.48</c:v>
                </c:pt>
                <c:pt idx="6">
                  <c:v>0.45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E0E-F344-9E21-9DC80A6855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Energy</c:v>
                </c:pt>
              </c:strCache>
            </c:strRef>
          </c:tx>
          <c:spPr>
            <a:ln w="38100" cap="flat">
              <a:solidFill>
                <a:srgbClr val="F5A62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5A623"/>
              </a:solidFill>
              <a:ln w="9525" cap="flat">
                <a:solidFill>
                  <a:srgbClr val="F5A623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1960s</c:v>
                </c:pt>
                <c:pt idx="1">
                  <c:v>1970s</c:v>
                </c:pt>
                <c:pt idx="2">
                  <c:v>1980s</c:v>
                </c:pt>
                <c:pt idx="3">
                  <c:v>1990s</c:v>
                </c:pt>
                <c:pt idx="4">
                  <c:v>2000s</c:v>
                </c:pt>
                <c:pt idx="5">
                  <c:v>2010s</c:v>
                </c:pt>
                <c:pt idx="6">
                  <c:v>2020s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0.55000000000000004</c:v>
                </c:pt>
                <c:pt idx="1">
                  <c:v>0.57999999999999996</c:v>
                </c:pt>
                <c:pt idx="2">
                  <c:v>0.62</c:v>
                </c:pt>
                <c:pt idx="3">
                  <c:v>0.64</c:v>
                </c:pt>
                <c:pt idx="4">
                  <c:v>0.66</c:v>
                </c:pt>
                <c:pt idx="5">
                  <c:v>0.65</c:v>
                </c:pt>
                <c:pt idx="6">
                  <c:v>0.66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E0E-F344-9E21-9DC80A68552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Danceability</c:v>
                </c:pt>
              </c:strCache>
            </c:strRef>
          </c:tx>
          <c:spPr>
            <a:ln w="38100" cap="flat">
              <a:solidFill>
                <a:srgbClr val="5EA9D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5EA9DD"/>
              </a:solidFill>
              <a:ln w="9525" cap="flat">
                <a:solidFill>
                  <a:srgbClr val="5EA9DD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1960s</c:v>
                </c:pt>
                <c:pt idx="1">
                  <c:v>1970s</c:v>
                </c:pt>
                <c:pt idx="2">
                  <c:v>1980s</c:v>
                </c:pt>
                <c:pt idx="3">
                  <c:v>1990s</c:v>
                </c:pt>
                <c:pt idx="4">
                  <c:v>2000s</c:v>
                </c:pt>
                <c:pt idx="5">
                  <c:v>2010s</c:v>
                </c:pt>
                <c:pt idx="6">
                  <c:v>2020s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0.56999999999999995</c:v>
                </c:pt>
                <c:pt idx="1">
                  <c:v>0.57999999999999996</c:v>
                </c:pt>
                <c:pt idx="2">
                  <c:v>0.59</c:v>
                </c:pt>
                <c:pt idx="3">
                  <c:v>0.6</c:v>
                </c:pt>
                <c:pt idx="4">
                  <c:v>0.61</c:v>
                </c:pt>
                <c:pt idx="5">
                  <c:v>0.62</c:v>
                </c:pt>
                <c:pt idx="6">
                  <c:v>0.63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E0E-F344-9E21-9DC80A6855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7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F141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F1419"/>
                </a:solidFill>
                <a:latin typeface="Georgia"/>
              </a:defRPr>
            </a:pPr>
            <a:r>
              <a:rPr lang="en-US" sz="1300" b="0" i="0" u="none" strike="noStrike">
                <a:solidFill>
                  <a:srgbClr val="0F1419"/>
                </a:solidFill>
                <a:latin typeface="Georgia"/>
              </a:rPr>
              <a:t>Genres driving low-mood hits since 2000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Sad hits since 2000</c:v>
                </c:pt>
              </c:strCache>
            </c:strRef>
          </c:tx>
          <c:spPr>
            <a:solidFill>
              <a:srgbClr val="E2213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F1419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Pop</c:v>
                </c:pt>
                <c:pt idx="1">
                  <c:v>Hip-Hop</c:v>
                </c:pt>
                <c:pt idx="2">
                  <c:v>R&amp;B</c:v>
                </c:pt>
                <c:pt idx="3">
                  <c:v>Indie</c:v>
                </c:pt>
                <c:pt idx="4">
                  <c:v>Country</c:v>
                </c:pt>
                <c:pt idx="5">
                  <c:v>Rock</c:v>
                </c:pt>
                <c:pt idx="6">
                  <c:v>Electronic</c:v>
                </c:pt>
                <c:pt idx="7">
                  <c:v>Alternative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4280</c:v>
                </c:pt>
                <c:pt idx="1">
                  <c:v>3145</c:v>
                </c:pt>
                <c:pt idx="2">
                  <c:v>2370</c:v>
                </c:pt>
                <c:pt idx="3">
                  <c:v>1890</c:v>
                </c:pt>
                <c:pt idx="4">
                  <c:v>1640</c:v>
                </c:pt>
                <c:pt idx="5">
                  <c:v>1420</c:v>
                </c:pt>
                <c:pt idx="6">
                  <c:v>1110</c:v>
                </c:pt>
                <c:pt idx="7">
                  <c:v>980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265-974E-BEFC-8075E0C50C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4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Popularity</c:v>
                </c:pt>
              </c:strCache>
            </c:strRef>
          </c:tx>
          <c:spPr>
            <a:ln>
              <a:noFill/>
            </a:ln>
            <a:effectLst/>
          </c:spPr>
          <c:marker>
            <c:symbol val="circle"/>
            <c:size val="6"/>
            <c:spPr>
              <a:solidFill>
                <a:srgbClr val="1DB954"/>
              </a:solidFill>
              <a:ln w="9525" cap="flat">
                <a:solidFill>
                  <a:srgbClr val="1DB954"/>
                </a:solidFill>
                <a:prstDash val="solid"/>
                <a:round/>
              </a:ln>
              <a:effectLst/>
            </c:spPr>
          </c:marker>
          <c:xVal>
            <c:numRef>
              <c:f>Sheet1!$A$2:$A$15</c:f>
              <c:numCache>
                <c:formatCode>General</c:formatCode>
                <c:ptCount val="14"/>
                <c:pt idx="0">
                  <c:v>0.28000000000000003</c:v>
                </c:pt>
                <c:pt idx="1">
                  <c:v>0.34</c:v>
                </c:pt>
                <c:pt idx="2">
                  <c:v>0.36</c:v>
                </c:pt>
                <c:pt idx="3">
                  <c:v>0.41</c:v>
                </c:pt>
                <c:pt idx="4">
                  <c:v>0.45</c:v>
                </c:pt>
                <c:pt idx="5">
                  <c:v>0.52</c:v>
                </c:pt>
                <c:pt idx="6">
                  <c:v>0.55000000000000004</c:v>
                </c:pt>
                <c:pt idx="7">
                  <c:v>0.57999999999999996</c:v>
                </c:pt>
                <c:pt idx="8">
                  <c:v>0.61</c:v>
                </c:pt>
                <c:pt idx="9">
                  <c:v>0.67</c:v>
                </c:pt>
                <c:pt idx="10">
                  <c:v>0.71</c:v>
                </c:pt>
                <c:pt idx="11">
                  <c:v>0.73</c:v>
                </c:pt>
                <c:pt idx="12">
                  <c:v>0.76</c:v>
                </c:pt>
                <c:pt idx="13">
                  <c:v>0.81</c:v>
                </c:pt>
              </c:numCache>
            </c:numRef>
          </c:xVal>
          <c:yVal>
            <c:numRef>
              <c:f>Sheet1!$B$2:$B$15</c:f>
              <c:numCache>
                <c:formatCode>General</c:formatCode>
                <c:ptCount val="14"/>
                <c:pt idx="0">
                  <c:v>88</c:v>
                </c:pt>
                <c:pt idx="1">
                  <c:v>82</c:v>
                </c:pt>
                <c:pt idx="2">
                  <c:v>91</c:v>
                </c:pt>
                <c:pt idx="3">
                  <c:v>76</c:v>
                </c:pt>
                <c:pt idx="4">
                  <c:v>74</c:v>
                </c:pt>
                <c:pt idx="5">
                  <c:v>68</c:v>
                </c:pt>
                <c:pt idx="6">
                  <c:v>79</c:v>
                </c:pt>
                <c:pt idx="7">
                  <c:v>72</c:v>
                </c:pt>
                <c:pt idx="8">
                  <c:v>70</c:v>
                </c:pt>
                <c:pt idx="9">
                  <c:v>65</c:v>
                </c:pt>
                <c:pt idx="10">
                  <c:v>71</c:v>
                </c:pt>
                <c:pt idx="11">
                  <c:v>66</c:v>
                </c:pt>
                <c:pt idx="12">
                  <c:v>63</c:v>
                </c:pt>
                <c:pt idx="13">
                  <c:v>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127-5541-9105-E09695EBED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F1419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0F1419"/>
                    </a:solidFill>
                    <a:latin typeface="Arial"/>
                  </a:rPr>
                  <a:t>Artist average mood (sad to happy)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crossBetween val="midCat"/>
      </c:val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0F1419"/>
                    </a:solidFill>
                    <a:latin typeface="Arial"/>
                  </a:defRPr>
                </a:pPr>
                <a:r>
                  <a:rPr lang="en-US" sz="1100" b="0" i="0" u="none" strike="noStrike">
                    <a:solidFill>
                      <a:srgbClr val="0F1419"/>
                    </a:solidFill>
                    <a:latin typeface="Arial"/>
                  </a:rPr>
                  <a:t>Popularity score</a:t>
                </a:r>
              </a:p>
            </c:rich>
          </c:tx>
          <c:overlay val="0"/>
        </c:title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DF66A-3D53-4249-BBDB-471675540E6B}" type="datetimeFigureOut">
              <a:rPr lang="en-US" smtClean="0"/>
              <a:t>5/8/26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9FA1FD-59A6-184B-A6D8-FC31175268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202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5486400"/>
            <a:ext cx="91440" cy="457200"/>
          </a:xfrm>
          <a:prstGeom prst="rect">
            <a:avLst/>
          </a:prstGeom>
          <a:solidFill>
            <a:srgbClr val="1DB954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85248" y="5303520"/>
            <a:ext cx="91440" cy="822960"/>
          </a:xfrm>
          <a:prstGeom prst="rect">
            <a:avLst/>
          </a:prstGeom>
          <a:solidFill>
            <a:srgbClr val="1DB954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186416" y="5532120"/>
            <a:ext cx="91440" cy="365760"/>
          </a:xfrm>
          <a:prstGeom prst="rect">
            <a:avLst/>
          </a:prstGeom>
          <a:solidFill>
            <a:srgbClr val="1DB954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387584" y="5166360"/>
            <a:ext cx="91440" cy="1097280"/>
          </a:xfrm>
          <a:prstGeom prst="rect">
            <a:avLst/>
          </a:prstGeom>
          <a:solidFill>
            <a:srgbClr val="1DB954">
              <a:alpha val="2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588752" y="5394960"/>
            <a:ext cx="91440" cy="640080"/>
          </a:xfrm>
          <a:prstGeom prst="rect">
            <a:avLst/>
          </a:prstGeom>
          <a:solidFill>
            <a:srgbClr val="1DB954">
              <a:alpha val="7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0" y="5257800"/>
            <a:ext cx="91440" cy="914400"/>
          </a:xfrm>
          <a:prstGeom prst="rect">
            <a:avLst/>
          </a:prstGeom>
          <a:solidFill>
            <a:srgbClr val="1DB954">
              <a:alpha val="5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91088" y="5577840"/>
            <a:ext cx="91440" cy="274320"/>
          </a:xfrm>
          <a:prstGeom prst="rect">
            <a:avLst/>
          </a:prstGeom>
          <a:solidFill>
            <a:srgbClr val="1DB954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1192256" y="5074920"/>
            <a:ext cx="91440" cy="1280160"/>
          </a:xfrm>
          <a:prstGeom prst="rect">
            <a:avLst/>
          </a:prstGeom>
          <a:solidFill>
            <a:srgbClr val="1DB954">
              <a:alpha val="2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1393424" y="5440680"/>
            <a:ext cx="91440" cy="548640"/>
          </a:xfrm>
          <a:prstGeom prst="rect">
            <a:avLst/>
          </a:prstGeom>
          <a:solidFill>
            <a:srgbClr val="1DB954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45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kern="0" spc="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OUR MUSIC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i="1" kern="0" spc="200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SAYS ABOUT US</a:t>
            </a:r>
            <a:endParaRPr lang="en-US" sz="5600" dirty="0"/>
          </a:p>
        </p:txBody>
      </p:sp>
      <p:sp>
        <p:nvSpPr>
          <p:cNvPr id="13" name="Text 11"/>
          <p:cNvSpPr/>
          <p:nvPr/>
        </p:nvSpPr>
        <p:spPr>
          <a:xfrm>
            <a:off x="548640" y="37033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60-year data investigation into the rise of sad pop music — and what 626 million streamers reveal about the modern emotional landscape.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9377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Waghmare</a:t>
            </a:r>
            <a:endParaRPr lang="en-US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506 — Visual Analytics &amp; Communications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SUNY Polytechnic Institute  ·  May 2026</a:t>
            </a:r>
            <a:endParaRPr lang="en-US" sz="13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1645920"/>
            <a:ext cx="1280160" cy="12801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 ·  THE HOOK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626 million people pay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music streaming.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are listening to sadness on purpose.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4663440"/>
            <a:ext cx="3611880" cy="1554480"/>
          </a:xfrm>
          <a:prstGeom prst="rect">
            <a:avLst/>
          </a:prstGeom>
          <a:solidFill>
            <a:srgbClr val="1A2028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754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/ 10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5440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2023's most-streamed songs scored below 50% on Spotify's mood scale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43400" y="4663440"/>
            <a:ext cx="3611880" cy="1554480"/>
          </a:xfrm>
          <a:prstGeom prst="rect">
            <a:avLst/>
          </a:prstGeom>
          <a:solidFill>
            <a:srgbClr val="1A2028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4754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yrs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572000" y="5440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measurable mood decline in pop music since the 1960s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4663440"/>
            <a:ext cx="3611880" cy="1554480"/>
          </a:xfrm>
          <a:prstGeom prst="rect">
            <a:avLst/>
          </a:prstGeom>
          <a:solidFill>
            <a:srgbClr val="1A2028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66760" y="4754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366760" y="544068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in low-mood hits as a share of the chart since 2010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Waghmare  ·  DSA 506 Final Project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Waghmare  ·  DSA 506 Final Project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tx1">
            <a:lumMod val="90000"/>
            <a:lumOff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1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8016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1945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the music we listen to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48640" y="29718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i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 or shape our mental state?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402336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does the data actually say about the popular belief that sad music makes you sadder?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5120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approach: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553212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1A2028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5532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features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017520" y="553212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1A2028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017520" y="5532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Lyrics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486400" y="553212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1A2028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86400" y="5532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 art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955280" y="5532120"/>
            <a:ext cx="2286000" cy="457200"/>
          </a:xfrm>
          <a:prstGeom prst="roundRect">
            <a:avLst>
              <a:gd name="adj" fmla="val 10000"/>
            </a:avLst>
          </a:prstGeom>
          <a:solidFill>
            <a:srgbClr val="1A2028"/>
          </a:solidFill>
          <a:ln w="12700">
            <a:solidFill>
              <a:srgbClr val="1DB95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0" y="5532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years of charts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Waghmare  ·  DSA 506 Final Project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65760" cy="16459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46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THE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a song like a data scientist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Spotify scores every song on 10+ audio features. Two carry the emotional story.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109728" cy="411480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VALENCE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91440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happy or sad a song sounds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3063240"/>
            <a:ext cx="4754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=  very sad        →        1  =  very happy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0.21  Hello — Adele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0.96  Happy — Pharrell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828800"/>
            <a:ext cx="54864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828800"/>
            <a:ext cx="109728" cy="41148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2011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ENERGY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675120" y="2514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intense or calm a song feels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675120" y="3063240"/>
            <a:ext cx="4754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 =  soft, slow      →        1  =  loud, fast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3840480"/>
            <a:ext cx="5029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0.18  Mad World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  Bohemian Rhapsody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Waghmare  ·  DSA 506 Final Project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65760" cy="16459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46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 ·  THE CONTEXT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datasets, one story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Multi-modal: numerical, categorical, text, image. Joined into one investigation.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03120"/>
            <a:ext cx="640080" cy="64008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45920" y="2057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114K Spotify Tracks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2468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+ Categorical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5920" y="2834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features across 125 genres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82880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0" y="2103120"/>
            <a:ext cx="640080" cy="64008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406640" y="20574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50 Songs 2023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406640" y="24688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06640" y="283464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counts and chart presence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4297680"/>
            <a:ext cx="640080" cy="64008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45920" y="4251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Billboard Hot 100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45920" y="4663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+ Time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645920" y="50292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years of weekly chart history (1958–2021)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023360"/>
            <a:ext cx="54864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4297680"/>
            <a:ext cx="640080" cy="64008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406640" y="425196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 Artist Lyrics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06640" y="4663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Image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6640" y="502920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6,000 songs with lyrics and album covers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Waghmare  ·  DSA 506 Final Project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22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THE CONFLICT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Pop music has been getting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i="1" dirty="0">
                <a:solidFill>
                  <a:srgbClr val="E22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steadily sadder for 60 years.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548640" y="3749040"/>
            <a:ext cx="5303520" cy="2011680"/>
          </a:xfrm>
          <a:prstGeom prst="rect">
            <a:avLst/>
          </a:prstGeom>
          <a:solidFill>
            <a:srgbClr val="1A2028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931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343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0.62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731520" y="5349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valence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4526280"/>
            <a:ext cx="548640" cy="5486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858000" y="3749040"/>
            <a:ext cx="4754880" cy="2011680"/>
          </a:xfrm>
          <a:prstGeom prst="rect">
            <a:avLst/>
          </a:prstGeom>
          <a:solidFill>
            <a:srgbClr val="1A2028"/>
          </a:solidFill>
          <a:ln w="12700">
            <a:solidFill>
              <a:srgbClr val="E221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40880" y="3931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22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040880" y="4343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0.45</a:t>
            </a:r>
            <a:endParaRPr lang="en-US" sz="6000" dirty="0"/>
          </a:p>
        </p:txBody>
      </p:sp>
      <p:sp>
        <p:nvSpPr>
          <p:cNvPr id="13" name="Text 10"/>
          <p:cNvSpPr/>
          <p:nvPr/>
        </p:nvSpPr>
        <p:spPr>
          <a:xfrm>
            <a:off x="7040880" y="5349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valence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Waghmare  ·  DSA 506 Final Project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65760" cy="16459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46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 ·  THE CONFLICT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years of decline — and not in energy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and danceability stayed steady. Mood is the one feature that fell.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783080"/>
          <a:ext cx="74980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503920" y="1828800"/>
            <a:ext cx="3108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503920" y="1828800"/>
            <a:ext cx="91440" cy="4206240"/>
          </a:xfrm>
          <a:prstGeom prst="rect">
            <a:avLst/>
          </a:prstGeom>
          <a:solidFill>
            <a:srgbClr val="E22134"/>
          </a:solidFill>
          <a:ln/>
        </p:spPr>
      </p:sp>
      <p:sp>
        <p:nvSpPr>
          <p:cNvPr id="9" name="Text 6"/>
          <p:cNvSpPr/>
          <p:nvPr/>
        </p:nvSpPr>
        <p:spPr>
          <a:xfrm>
            <a:off x="87325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E22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PARADOX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732520" y="2468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People are not listening to slower music.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732520" y="33832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listening to music that sounds upbeat but feels heavy.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732520" y="5029200"/>
            <a:ext cx="2468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32520" y="51206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22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contradiction is what we call the SAD BANGER.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Waghmare  ·  DSA 506 Final Project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4–7  ·  THE JOURNEY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diagnosed the shift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investigative passes. Twenty-plus visualizations. One coherent finding.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2606040" cy="3017520"/>
          </a:xfrm>
          <a:prstGeom prst="rect">
            <a:avLst/>
          </a:prstGeom>
          <a:solidFill>
            <a:srgbClr val="1A2028"/>
          </a:solidFill>
          <a:ln w="12700">
            <a:solidFill>
              <a:srgbClr val="1DB95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" y="4206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&amp; WHO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77240" y="47548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Geography, genre, and the artists driving the trend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3108960"/>
            <a:ext cx="2606040" cy="3017520"/>
          </a:xfrm>
          <a:prstGeom prst="rect">
            <a:avLst/>
          </a:prstGeom>
          <a:solidFill>
            <a:srgbClr val="1A2028"/>
          </a:solidFill>
          <a:ln w="12700">
            <a:solidFill>
              <a:srgbClr val="1DB954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33375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566160" y="4206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HIDDEN STRUCTURE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66160" y="47548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PCA, t-SNE, UMAP, and clustering reveal mood tribes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3108960"/>
            <a:ext cx="2606040" cy="3017520"/>
          </a:xfrm>
          <a:prstGeom prst="rect">
            <a:avLst/>
          </a:prstGeom>
          <a:solidFill>
            <a:srgbClr val="1A2028"/>
          </a:solidFill>
          <a:ln w="12700">
            <a:solidFill>
              <a:srgbClr val="1DB954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33756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355080" y="4206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ARTIST NETWORK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55080" y="47548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Collaborations form connected emotional communities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15400" y="3108960"/>
            <a:ext cx="2606040" cy="3017520"/>
          </a:xfrm>
          <a:prstGeom prst="rect">
            <a:avLst/>
          </a:prstGeom>
          <a:solidFill>
            <a:srgbClr val="1A2028"/>
          </a:solidFill>
          <a:ln w="12700">
            <a:solidFill>
              <a:srgbClr val="1DB954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333756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0" y="3931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9144000" y="4206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INSIDE THE SONGS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144000" y="475488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Lyrics and album art confirm the mood signal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Waghmare  ·  DSA 506 Final Project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65760" cy="16459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46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 ·  JOURNEY · PART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Sad pop is everywhere, in every chart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mood shift is global, not a US blip — and it's concentrated in a few genres.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828800"/>
          <a:ext cx="71323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955280" y="1828800"/>
            <a:ext cx="365760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09244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OF MODERN SAD POP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092440" y="2423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9536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Drake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092440" y="2834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59536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Weeknd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92440" y="3246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595360" y="3246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Billie Eilish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092440" y="36576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59536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Swift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92440" y="4069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595360" y="4069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Olivia Rodrigo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092440" y="44805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595360" y="4480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Malone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092440" y="48920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595360" y="48920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Lana Del Rey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092440" y="53035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595360" y="53035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Bunny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Waghmare  ·  DSA 506 Final Project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65760" cy="16459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46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 ·  JOURNEY · PART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hidden mood tribes in the data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PCA, t-SNE, and UMAP all agreed: songs cluster into recognizable emotional groups.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13969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2139696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288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BANGERS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" y="246888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mood, high energy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384048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411480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Uptown Funk, Happy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98064" y="1828800"/>
            <a:ext cx="213969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98064" y="1828800"/>
            <a:ext cx="2139696" cy="457200"/>
          </a:xfrm>
          <a:prstGeom prst="rect">
            <a:avLst/>
          </a:prstGeom>
          <a:solidFill>
            <a:srgbClr val="F4D35E"/>
          </a:solidFill>
          <a:ln/>
        </p:spPr>
      </p:sp>
      <p:sp>
        <p:nvSpPr>
          <p:cNvPr id="14" name="Text 12"/>
          <p:cNvSpPr/>
          <p:nvPr/>
        </p:nvSpPr>
        <p:spPr>
          <a:xfrm>
            <a:off x="2935224" y="18288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SUNNY ACOUSTIC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35224" y="246888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mood, soft sound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35224" y="384048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35224" y="411480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Riptide, Banana Pancakes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47488" y="1828800"/>
            <a:ext cx="2139696" cy="411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E2213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47488" y="1828800"/>
            <a:ext cx="2139696" cy="457200"/>
          </a:xfrm>
          <a:prstGeom prst="rect">
            <a:avLst/>
          </a:prstGeom>
          <a:solidFill>
            <a:srgbClr val="E22134"/>
          </a:solidFill>
          <a:ln/>
        </p:spPr>
      </p:sp>
      <p:sp>
        <p:nvSpPr>
          <p:cNvPr id="20" name="Text 18"/>
          <p:cNvSpPr/>
          <p:nvPr/>
        </p:nvSpPr>
        <p:spPr>
          <a:xfrm>
            <a:off x="5184648" y="18288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 BANGERS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84648" y="246888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mood, high energy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184648" y="384048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184648" y="411480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Anti-Hero, Bad Guy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184648" y="5212080"/>
            <a:ext cx="1865376" cy="59436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5" name="Text 23"/>
          <p:cNvSpPr/>
          <p:nvPr/>
        </p:nvSpPr>
        <p:spPr>
          <a:xfrm>
            <a:off x="5184648" y="5212080"/>
            <a:ext cx="18653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22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MODERN HIT FORMULA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96912" y="1828800"/>
            <a:ext cx="213969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96912" y="1828800"/>
            <a:ext cx="2139696" cy="457200"/>
          </a:xfrm>
          <a:prstGeom prst="rect">
            <a:avLst/>
          </a:prstGeom>
          <a:solidFill>
            <a:srgbClr val="5EA9DD"/>
          </a:solidFill>
          <a:ln/>
        </p:spPr>
      </p:sp>
      <p:sp>
        <p:nvSpPr>
          <p:cNvPr id="28" name="Text 26"/>
          <p:cNvSpPr/>
          <p:nvPr/>
        </p:nvSpPr>
        <p:spPr>
          <a:xfrm>
            <a:off x="7434072" y="18288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 SADNESS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34072" y="246888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mood, low energy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434072" y="384048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434072" y="411480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Hello, Mad World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546336" y="1828800"/>
            <a:ext cx="2139696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546336" y="1828800"/>
            <a:ext cx="2139696" cy="4572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4" name="Text 32"/>
          <p:cNvSpPr/>
          <p:nvPr/>
        </p:nvSpPr>
        <p:spPr>
          <a:xfrm>
            <a:off x="9683496" y="1828800"/>
            <a:ext cx="18653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MOOD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83496" y="2468880"/>
            <a:ext cx="1865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in between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683496" y="3840480"/>
            <a:ext cx="1865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683496" y="4114800"/>
            <a:ext cx="18653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album tracks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Waghmare  ·  DSA 506 Final Project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65760" cy="16459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46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 ·  JOURNEY · PART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Sadness clusters socially, not by accident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Artists who collaborate share mood profiles. Sad pop is a connected scene, not a coincidence.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548640" y="1828800"/>
          <a:ext cx="73152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138160" y="1828800"/>
            <a:ext cx="34747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138160" y="1828800"/>
            <a:ext cx="91440" cy="420624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9" name="Text 6"/>
          <p:cNvSpPr/>
          <p:nvPr/>
        </p:nvSpPr>
        <p:spPr>
          <a:xfrm>
            <a:off x="836676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FINDING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366760" y="2514600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Sad-leaning artists are MORE popular, not less.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366760" y="3886200"/>
            <a:ext cx="3154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the slope. The artists with the lowest mood scores cluster at the highest popularity. Sad music is not just commercially viable — it is the winning formula.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Waghmare  ·  DSA 506 Final Project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65760" cy="16459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46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 ·  JOURNEY · PART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signals, all pointing the same direction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mood, lyrical sentiment, and album cover color all confirm the same finding.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3611880" cy="457200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1  ·  AUDIO</a:t>
            </a:r>
            <a:endParaRPr lang="en-US" sz="12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5146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32004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0.45</a:t>
            </a:r>
            <a:endParaRPr lang="en-US" sz="4800" dirty="0"/>
          </a:p>
        </p:txBody>
      </p:sp>
      <p:sp>
        <p:nvSpPr>
          <p:cNvPr id="11" name="Text 8"/>
          <p:cNvSpPr/>
          <p:nvPr/>
        </p:nvSpPr>
        <p:spPr>
          <a:xfrm>
            <a:off x="822960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valence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" y="4526280"/>
            <a:ext cx="3108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hits cluster in the low-mood, high-energy quadrant of the audio space.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25112" y="182880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25112" y="1828800"/>
            <a:ext cx="3611880" cy="4572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6" name="Text 13"/>
          <p:cNvSpPr/>
          <p:nvPr/>
        </p:nvSpPr>
        <p:spPr>
          <a:xfrm>
            <a:off x="4553712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2  ·  LYRICS</a:t>
            </a:r>
            <a:endParaRPr lang="en-US" sz="120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51460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99432" y="32004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−0.08</a:t>
            </a:r>
            <a:endParaRPr lang="en-US" sz="4800" dirty="0"/>
          </a:p>
        </p:txBody>
      </p:sp>
      <p:sp>
        <p:nvSpPr>
          <p:cNvPr id="19" name="Text 15"/>
          <p:cNvSpPr/>
          <p:nvPr/>
        </p:nvSpPr>
        <p:spPr>
          <a:xfrm>
            <a:off x="4599432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sentiment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99432" y="4526280"/>
            <a:ext cx="3108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599432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 hits use a recognizable vocabulary: never, alone, broken, gone, used to.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8101584" y="1828800"/>
            <a:ext cx="36118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101584" y="1828800"/>
            <a:ext cx="3611880" cy="457200"/>
          </a:xfrm>
          <a:prstGeom prst="rect">
            <a:avLst/>
          </a:prstGeom>
          <a:solidFill>
            <a:srgbClr val="E22134"/>
          </a:solidFill>
          <a:ln/>
        </p:spPr>
      </p:sp>
      <p:sp>
        <p:nvSpPr>
          <p:cNvPr id="24" name="Text 20"/>
          <p:cNvSpPr/>
          <p:nvPr/>
        </p:nvSpPr>
        <p:spPr>
          <a:xfrm>
            <a:off x="8330184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3  ·  ALBUM ART</a:t>
            </a:r>
            <a:endParaRPr lang="en-US" sz="12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904" y="2514600"/>
            <a:ext cx="502920" cy="5029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375904" y="320040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22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0.42</a:t>
            </a:r>
            <a:endParaRPr lang="en-US" sz="4800" dirty="0"/>
          </a:p>
        </p:txBody>
      </p:sp>
      <p:sp>
        <p:nvSpPr>
          <p:cNvPr id="27" name="Text 22"/>
          <p:cNvSpPr/>
          <p:nvPr/>
        </p:nvSpPr>
        <p:spPr>
          <a:xfrm>
            <a:off x="8375904" y="40690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brightness</a:t>
            </a:r>
            <a:endParaRPr lang="en-US" sz="1100" dirty="0"/>
          </a:p>
        </p:txBody>
      </p:sp>
      <p:sp>
        <p:nvSpPr>
          <p:cNvPr id="28" name="Shape 23"/>
          <p:cNvSpPr/>
          <p:nvPr/>
        </p:nvSpPr>
        <p:spPr>
          <a:xfrm>
            <a:off x="8375904" y="4526280"/>
            <a:ext cx="31089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375904" y="46634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Low-mood albums skew darker and less saturated. Visual identity matches audio mood.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Waghmare  ·  DSA 506 Final Project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 ·  THE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Sad music is not a niche.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0972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is the dominant emotional language of modern pop.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listeners are choosing it on purpose.</a:t>
            </a:r>
            <a:endParaRPr lang="en-US" sz="18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1436171" y="4251959"/>
            <a:ext cx="731520" cy="19848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42062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Global. Genre-driven. Connected. Confirmed across three independent signals.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-1081074" y="5744512"/>
            <a:ext cx="731521" cy="7315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4800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Sad-leaning artists are just as commercially successful as happy-leaning artists.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-2386110" y="6236770"/>
            <a:ext cx="1840325" cy="220190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0120" y="53949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50-year valence drop is not a mental health crisis — it is honesty.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Waghmare  ·  DSA 506 Final Project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0040"/>
            <a:ext cx="365760" cy="164592"/>
          </a:xfrm>
          <a:prstGeom prst="rect">
            <a:avLst/>
          </a:prstGeom>
          <a:solidFill>
            <a:srgbClr val="1DB954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24688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 ·  CALL TO ACTION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 for everyone in the room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audiences, one finding, five different responses.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93392"/>
            <a:ext cx="457200" cy="45720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193852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Streaming Platforms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97680" y="1965960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193852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treating mood as a side filter. Weight valence trajectories in recommendations.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2862072"/>
            <a:ext cx="457200" cy="45720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417320" y="280720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Artists &amp; Labels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97680" y="2834640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280720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 Bangers are the modern hit lane. Build for emotionally honest, sonically energetic music.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56616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730752"/>
            <a:ext cx="457200" cy="45720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367588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Mental Health Pros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297680" y="3703320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367588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pathologizing sad music. It is associated with engagement, not withdrawal.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4599432"/>
            <a:ext cx="457200" cy="45720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599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417320" y="454456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Parents &amp; Educators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297680" y="4572000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0" y="454456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teen who loves Olivia Rodrigo is participating, not signaling distress.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303520"/>
            <a:ext cx="11064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5468112"/>
            <a:ext cx="457200" cy="457200"/>
          </a:xfrm>
          <a:prstGeom prst="ellipse">
            <a:avLst/>
          </a:prstGeom>
          <a:solidFill>
            <a:srgbClr val="1DB954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468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417320" y="5413248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Listeners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4297680" y="5440680"/>
            <a:ext cx="0" cy="50292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541324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the impulse. You are not breaking yourself when you reach for a sad song.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Waghmare  ·  DSA 506 Final Project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9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E22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 ·  THE HUMAN PART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Statistics tell us pop got sadder.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14884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i="1" dirty="0">
                <a:solidFill>
                  <a:srgbClr val="E2213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They do not tell us why we keep coming back.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3246120"/>
            <a:ext cx="11064240" cy="0"/>
          </a:xfrm>
          <a:prstGeom prst="line">
            <a:avLst/>
          </a:prstGeom>
          <a:noFill/>
          <a:ln w="12700">
            <a:solidFill>
              <a:srgbClr val="3741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5204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asked a few people in my life what their most-played song of the year was. Most named a sad song. None of them were sad people.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572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were people working through something. Or remembering someone. Or sitting with a feeling on a quiet evening.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55778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B9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Music that admits the world is hard sells more than music that pretends it is easy — because the world is hard, and we know it.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06424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bg1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10972800" cy="1005840"/>
          </a:xfrm>
          <a:prstGeom prst="rect">
            <a:avLst/>
          </a:prstGeom>
          <a:noFill/>
          <a:ln>
            <a:solidFill>
              <a:schemeClr val="tx1">
                <a:lumMod val="90000"/>
                <a:lumOff val="10000"/>
              </a:schemeClr>
            </a:solidFill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2606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summary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3246120"/>
            <a:ext cx="5440680" cy="2743200"/>
          </a:xfrm>
          <a:prstGeom prst="rect">
            <a:avLst/>
          </a:prstGeom>
          <a:solidFill>
            <a:srgbClr val="1A2028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TECHNIQUES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3749040"/>
            <a:ext cx="50292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Ridgeline · Hexbin · Violin · Sunburst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scatter · Slope · Density contour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Choropleth (Folium) · Treemap · Sankey · Polar bar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heatmap · PCA · t-SNE · UMAP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· Radar · Network graph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detection · Bubble · Alluvial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· Word clouds · Bigrams · Image color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Plotly dashboard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72200" y="3246120"/>
            <a:ext cx="5440680" cy="2743200"/>
          </a:xfrm>
          <a:prstGeom prst="rect">
            <a:avLst/>
          </a:prstGeom>
          <a:solidFill>
            <a:srgbClr val="1A2028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3383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DB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DATASETS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0" y="374904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114K Spotify Tracks (audio features)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50 Songs 2023 (streaming)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Billboard Hot 100 (60 yrs of charts)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Lyrics from 20 major artists (6K songs)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+ 30 album covers via iTunes API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506 — Visual Analytics &amp; Communications  · 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Our Music Says About Us</dc:title>
  <dc:subject>PptxGenJS Presentation</dc:subject>
  <dc:creator>Mayank Waghmare</dc:creator>
  <cp:lastModifiedBy>Mayank Waghmare</cp:lastModifiedBy>
  <cp:revision>2</cp:revision>
  <dcterms:created xsi:type="dcterms:W3CDTF">2026-05-08T02:04:08Z</dcterms:created>
  <dcterms:modified xsi:type="dcterms:W3CDTF">2026-05-08T20:13:03Z</dcterms:modified>
</cp:coreProperties>
</file>