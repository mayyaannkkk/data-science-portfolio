
<file path=[Content_Types].xml><?xml version="1.0" encoding="utf-8"?>
<Types xmlns="http://schemas.openxmlformats.org/package/2006/content-types"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charts/chart1.xml" ContentType="application/vnd.openxmlformats-officedocument.drawingml.chart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2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71" d="100"/>
          <a:sy n="71" d="100"/>
        </p:scale>
        <p:origin x="52" y="9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presProps" Target="pres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heme" Target="theme/theme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viewProps" Target="view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c:style val="2"/>
  <c:chart>
    <c:title>
      <c:tx>
        <c:rich>
          <a:bodyPr/>
          <a:lstStyle/>
          <a:p>
            <a:pPr>
              <a:defRPr sz="1300" b="0" i="0" u="none" strike="noStrike">
                <a:solidFill>
                  <a:srgbClr val="0D1B2A"/>
                </a:solidFill>
                <a:latin typeface="Arial"/>
              </a:defRPr>
            </a:pPr>
            <a:r>
              <a:rPr lang="en-US" sz="1300" b="0" i="0" u="none" strike="noStrike">
                <a:solidFill>
                  <a:srgbClr val="0D1B2A"/>
                </a:solidFill>
                <a:latin typeface="Arial"/>
              </a:rPr>
              <a:t>Mean log(Goals+1) by Pressing x Venue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Mean log(Goals+1)</c:v>
                </c:pt>
              </c:strCache>
            </c:strRef>
          </c:tx>
          <c:spPr>
            <a:solidFill>
              <a:srgbClr val="1B6B3A"/>
            </a:solidFill>
            <a:effectLst/>
          </c:spPr>
          <c:invertIfNegative val="0"/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100" b="0" i="0" u="none" strike="noStrike">
                    <a:solidFill>
                      <a:srgbClr val="0D1B2A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Sheet1!$A$2:$A$5</c:f>
              <c:strCache>
                <c:ptCount val="4"/>
                <c:pt idx="0">
                  <c:v>Lo Press
Away</c:v>
                </c:pt>
                <c:pt idx="1">
                  <c:v>Lo Press
Home</c:v>
                </c:pt>
                <c:pt idx="2">
                  <c:v>Hi Press
Away</c:v>
                </c:pt>
                <c:pt idx="3">
                  <c:v>Hi Press
Home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0.7</c:v>
                </c:pt>
                <c:pt idx="1">
                  <c:v>0.82</c:v>
                </c:pt>
                <c:pt idx="2">
                  <c:v>0.78</c:v>
                </c:pt>
                <c:pt idx="3">
                  <c:v>0.93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398E-4A55-A2C6-691826CDDC32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autoTitleDeleted val="1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Low Final Third (deep &lt; 6)</c:v>
                </c:pt>
              </c:strCache>
            </c:strRef>
          </c:tx>
          <c:spPr>
            <a:ln w="38100" cap="flat">
              <a:solidFill>
                <a:srgbClr val="64748B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64748B"/>
              </a:solidFill>
              <a:ln w="9525" cap="flat">
                <a:solidFill>
                  <a:srgbClr val="64748B"/>
                </a:solidFill>
                <a:prstDash val="solid"/>
                <a:round/>
              </a:ln>
              <a:effectLst/>
            </c:spPr>
          </c:marker>
          <c:cat>
            <c:strRef>
              <c:f>Sheet1!$A$2:$A$3</c:f>
              <c:strCache>
                <c:ptCount val="2"/>
                <c:pt idx="0">
                  <c:v>Low Press</c:v>
                </c:pt>
                <c:pt idx="1">
                  <c:v>High Press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0.62</c:v>
                </c:pt>
                <c:pt idx="1">
                  <c:v>0.7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0-16BF-4D6A-B0EB-7A7C65EC9DD1}"/>
            </c:ext>
          </c:extLst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High Final Third (deep &gt;= 6)</c:v>
                </c:pt>
              </c:strCache>
            </c:strRef>
          </c:tx>
          <c:spPr>
            <a:ln w="38100" cap="flat">
              <a:solidFill>
                <a:srgbClr val="1B6B3A"/>
              </a:solidFill>
              <a:prstDash val="solid"/>
              <a:round/>
            </a:ln>
            <a:effectLst/>
          </c:spPr>
          <c:marker>
            <c:symbol val="circle"/>
            <c:size val="6"/>
            <c:spPr>
              <a:solidFill>
                <a:srgbClr val="1B6B3A"/>
              </a:solidFill>
              <a:ln w="9525" cap="flat">
                <a:solidFill>
                  <a:srgbClr val="1B6B3A"/>
                </a:solidFill>
                <a:prstDash val="solid"/>
                <a:round/>
              </a:ln>
              <a:effectLst/>
            </c:spPr>
          </c:marker>
          <c:cat>
            <c:strRef>
              <c:f>Sheet1!$A$2:$A$3</c:f>
              <c:strCache>
                <c:ptCount val="2"/>
                <c:pt idx="0">
                  <c:v>Low Press</c:v>
                </c:pt>
                <c:pt idx="1">
                  <c:v>High Press</c:v>
                </c:pt>
              </c:strCache>
            </c:strRef>
          </c:cat>
          <c:val>
            <c:numRef>
              <c:f>Sheet1!$C$2:$C$3</c:f>
              <c:numCache>
                <c:formatCode>General</c:formatCode>
                <c:ptCount val="2"/>
                <c:pt idx="0">
                  <c:v>0.8</c:v>
                </c:pt>
                <c:pt idx="1">
                  <c:v>0.99</c:v>
                </c:pt>
              </c:numCache>
            </c:numRef>
          </c:val>
          <c:smooth val="0"/>
          <c:extLst>
            <c:ext xmlns:c16="http://schemas.microsoft.com/office/drawing/2014/chart" uri="{C3380CC4-5D6E-409C-BE32-E72D297353CC}">
              <c16:uniqueId val="{00000001-16BF-4D6A-B0EB-7A7C65EC9DD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marker val="1"/>
        <c:smooth val="0"/>
        <c:axId val="2094734554"/>
        <c:axId val="2094734552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D1B2A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100"/>
          </a:pPr>
          <a:endParaRPr lang="en-US"/>
        </a:p>
      </c:txPr>
    </c:legend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8064941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2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Shape 1"/>
          <p:cNvSpPr/>
          <p:nvPr/>
        </p:nvSpPr>
        <p:spPr>
          <a:xfrm>
            <a:off x="164592" y="0"/>
            <a:ext cx="8979408" cy="51435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4" name="Text 2"/>
          <p:cNvSpPr/>
          <p:nvPr/>
        </p:nvSpPr>
        <p:spPr>
          <a:xfrm>
            <a:off x="457200" y="502920"/>
            <a:ext cx="82296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Effects of Pressing Intensity, Final Third Entries,</a:t>
            </a:r>
            <a:endParaRPr lang="en-US" sz="3000" dirty="0"/>
          </a:p>
          <a:p>
            <a:pPr marL="0" indent="0" algn="l">
              <a:buNone/>
            </a:pPr>
            <a:r>
              <a:rPr lang="en-US" sz="30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and Match Venue on Goals Scored</a:t>
            </a:r>
            <a:endParaRPr lang="en-US" sz="3000" dirty="0"/>
          </a:p>
        </p:txBody>
      </p:sp>
      <p:sp>
        <p:nvSpPr>
          <p:cNvPr id="5" name="Text 3"/>
          <p:cNvSpPr/>
          <p:nvPr/>
        </p:nvSpPr>
        <p:spPr>
          <a:xfrm>
            <a:off x="457200" y="2286000"/>
            <a:ext cx="77724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800" i="1" dirty="0">
                <a:solidFill>
                  <a:srgbClr val="2ECC7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2³ Factorial Study Using English Premier League Data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457200" y="2834640"/>
            <a:ext cx="5486400" cy="36576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2971800"/>
            <a:ext cx="7772400" cy="8229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b="1" dirty="0">
                <a:solidFill>
                  <a:srgbClr val="F0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Mayank Waghmare</a:t>
            </a:r>
            <a:endParaRPr lang="en-US" sz="1400" dirty="0"/>
          </a:p>
          <a:p>
            <a:pPr marL="0" indent="0" algn="l">
              <a:buNone/>
            </a:pPr>
            <a:r>
              <a:rPr lang="en-US" sz="1400" i="1" dirty="0">
                <a:solidFill>
                  <a:srgbClr val="F0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DSA 503  |  Prof. William Thistleton  |  U00374252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5486400" y="3017520"/>
            <a:ext cx="1554480" cy="868680"/>
          </a:xfrm>
          <a:prstGeom prst="rect">
            <a:avLst/>
          </a:prstGeom>
          <a:solidFill>
            <a:srgbClr val="1B6B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5486400" y="30358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4,560</a:t>
            </a:r>
            <a:endParaRPr lang="en-US" sz="2400" dirty="0"/>
          </a:p>
        </p:txBody>
      </p:sp>
      <p:sp>
        <p:nvSpPr>
          <p:cNvPr id="10" name="Text 8"/>
          <p:cNvSpPr/>
          <p:nvPr/>
        </p:nvSpPr>
        <p:spPr>
          <a:xfrm>
            <a:off x="5486400" y="34930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EPL Matches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7315200" y="3017520"/>
            <a:ext cx="1554480" cy="868680"/>
          </a:xfrm>
          <a:prstGeom prst="rect">
            <a:avLst/>
          </a:prstGeom>
          <a:solidFill>
            <a:srgbClr val="1B6B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2" name="Text 10"/>
          <p:cNvSpPr/>
          <p:nvPr/>
        </p:nvSpPr>
        <p:spPr>
          <a:xfrm>
            <a:off x="7315200" y="303580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2400" dirty="0"/>
          </a:p>
        </p:txBody>
      </p:sp>
      <p:sp>
        <p:nvSpPr>
          <p:cNvPr id="13" name="Text 11"/>
          <p:cNvSpPr/>
          <p:nvPr/>
        </p:nvSpPr>
        <p:spPr>
          <a:xfrm>
            <a:off x="7315200" y="349300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5486400" y="4023360"/>
            <a:ext cx="1554480" cy="868680"/>
          </a:xfrm>
          <a:prstGeom prst="rect">
            <a:avLst/>
          </a:prstGeom>
          <a:solidFill>
            <a:srgbClr val="1B6B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5486400" y="40416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6" name="Text 14"/>
          <p:cNvSpPr/>
          <p:nvPr/>
        </p:nvSpPr>
        <p:spPr>
          <a:xfrm>
            <a:off x="5486400" y="44988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Factors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7315200" y="4023360"/>
            <a:ext cx="1554480" cy="868680"/>
          </a:xfrm>
          <a:prstGeom prst="rect">
            <a:avLst/>
          </a:prstGeom>
          <a:solidFill>
            <a:srgbClr val="1B6B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7315200" y="4041648"/>
            <a:ext cx="15544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</a:t>
            </a:r>
            <a:endParaRPr lang="en-US" sz="2400" dirty="0"/>
          </a:p>
        </p:txBody>
      </p:sp>
      <p:sp>
        <p:nvSpPr>
          <p:cNvPr id="19" name="Text 17"/>
          <p:cNvSpPr/>
          <p:nvPr/>
        </p:nvSpPr>
        <p:spPr>
          <a:xfrm>
            <a:off x="7315200" y="4498848"/>
            <a:ext cx="155448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F0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Cells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Research Questions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365760" y="914400"/>
            <a:ext cx="640080" cy="594360"/>
          </a:xfrm>
          <a:prstGeom prst="rect">
            <a:avLst/>
          </a:prstGeom>
          <a:solidFill>
            <a:srgbClr val="1B6B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365760" y="96012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Q1</a:t>
            </a:r>
            <a:endParaRPr lang="en-US" sz="1800" dirty="0"/>
          </a:p>
        </p:txBody>
      </p:sp>
      <p:sp>
        <p:nvSpPr>
          <p:cNvPr id="6" name="Shape 4"/>
          <p:cNvSpPr/>
          <p:nvPr/>
        </p:nvSpPr>
        <p:spPr>
          <a:xfrm>
            <a:off x="1188720" y="877824"/>
            <a:ext cx="74980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1325880" y="96012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pressing intensity, final third entries, and match venue each have significant main effects on goals scored?</a:t>
            </a:r>
            <a:endParaRPr lang="en-US" sz="1400" dirty="0"/>
          </a:p>
        </p:txBody>
      </p:sp>
      <p:sp>
        <p:nvSpPr>
          <p:cNvPr id="8" name="Shape 6"/>
          <p:cNvSpPr/>
          <p:nvPr/>
        </p:nvSpPr>
        <p:spPr>
          <a:xfrm>
            <a:off x="365760" y="2148840"/>
            <a:ext cx="640080" cy="594360"/>
          </a:xfrm>
          <a:prstGeom prst="rect">
            <a:avLst/>
          </a:prstGeom>
          <a:solidFill>
            <a:srgbClr val="1B6B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365760" y="219456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Q2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1188720" y="2112264"/>
            <a:ext cx="74980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1325880" y="219456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 any pairwise interactions between the three factors significantly influence goal output?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365760" y="3383280"/>
            <a:ext cx="640080" cy="594360"/>
          </a:xfrm>
          <a:prstGeom prst="rect">
            <a:avLst/>
          </a:prstGeom>
          <a:solidFill>
            <a:srgbClr val="1B6B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3" name="Text 11"/>
          <p:cNvSpPr/>
          <p:nvPr/>
        </p:nvSpPr>
        <p:spPr>
          <a:xfrm>
            <a:off x="365760" y="3429000"/>
            <a:ext cx="6400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8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Q3</a:t>
            </a:r>
            <a:endParaRPr lang="en-US" sz="1800" dirty="0"/>
          </a:p>
        </p:txBody>
      </p:sp>
      <p:sp>
        <p:nvSpPr>
          <p:cNvPr id="14" name="Shape 12"/>
          <p:cNvSpPr/>
          <p:nvPr/>
        </p:nvSpPr>
        <p:spPr>
          <a:xfrm>
            <a:off x="1188720" y="3346704"/>
            <a:ext cx="7498080" cy="6858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1325880" y="3429000"/>
            <a:ext cx="722376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4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Does the three-way interaction contribute meaningfully to the model?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365760" y="4663440"/>
            <a:ext cx="8412480" cy="347472"/>
          </a:xfrm>
          <a:prstGeom prst="rect">
            <a:avLst/>
          </a:prstGeom>
          <a:solidFill>
            <a:srgbClr val="E8F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57200" y="4681728"/>
            <a:ext cx="822960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Dataset: Understat.com EPL 2014-2019  |  Response: log(goals + 1)  |  Design: 2^3 factorial with season blocking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Experimental Design: 2^3 Factorial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269748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22960"/>
            <a:ext cx="2697480" cy="502920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347472" y="8503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 A: Pressing Intensity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365760" y="14447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PPDA (Passes Allowed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Defensive Action)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11480" y="2148840"/>
            <a:ext cx="2423160" cy="640080"/>
          </a:xfrm>
          <a:prstGeom prst="roundRect">
            <a:avLst>
              <a:gd name="adj" fmla="val 8571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7"/>
          <p:cNvSpPr/>
          <p:nvPr/>
        </p:nvSpPr>
        <p:spPr>
          <a:xfrm>
            <a:off x="457200" y="217627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Low: PPDA &gt;= 11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(passive press)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11480" y="2926080"/>
            <a:ext cx="242316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57200" y="295351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 High: PPDA &lt;= 9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(aggressive press)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365760" y="37033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~ 400-800 matches per cell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822960"/>
            <a:ext cx="269748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4" name="Shape 12"/>
          <p:cNvSpPr/>
          <p:nvPr/>
        </p:nvSpPr>
        <p:spPr>
          <a:xfrm>
            <a:off x="3200400" y="822960"/>
            <a:ext cx="2697480" cy="502920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3273552" y="8503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 B: Final Third Entries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3291840" y="14447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deep column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(passes into final third)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3337560" y="2148840"/>
            <a:ext cx="2423160" cy="640080"/>
          </a:xfrm>
          <a:prstGeom prst="roundRect">
            <a:avLst>
              <a:gd name="adj" fmla="val 8571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6"/>
          <p:cNvSpPr/>
          <p:nvPr/>
        </p:nvSpPr>
        <p:spPr>
          <a:xfrm>
            <a:off x="3383280" y="217627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Low: deep &lt; 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(below median)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3337560" y="2926080"/>
            <a:ext cx="242316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3383280" y="295351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 High: deep &gt;= 6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(at/above median)</a:t>
            </a:r>
            <a:endParaRPr lang="en-US" sz="1100" dirty="0"/>
          </a:p>
        </p:txBody>
      </p:sp>
      <p:sp>
        <p:nvSpPr>
          <p:cNvPr id="21" name="Text 19"/>
          <p:cNvSpPr/>
          <p:nvPr/>
        </p:nvSpPr>
        <p:spPr>
          <a:xfrm>
            <a:off x="3291840" y="37033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~ 400-800 matches per cell</a:t>
            </a:r>
            <a:endParaRPr lang="en-US" sz="950" dirty="0"/>
          </a:p>
        </p:txBody>
      </p:sp>
      <p:sp>
        <p:nvSpPr>
          <p:cNvPr id="22" name="Shape 20"/>
          <p:cNvSpPr/>
          <p:nvPr/>
        </p:nvSpPr>
        <p:spPr>
          <a:xfrm>
            <a:off x="6126480" y="822960"/>
            <a:ext cx="2697480" cy="397764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3" name="Shape 21"/>
          <p:cNvSpPr/>
          <p:nvPr/>
        </p:nvSpPr>
        <p:spPr>
          <a:xfrm>
            <a:off x="6126480" y="822960"/>
            <a:ext cx="2697480" cy="502920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4" name="Text 22"/>
          <p:cNvSpPr/>
          <p:nvPr/>
        </p:nvSpPr>
        <p:spPr>
          <a:xfrm>
            <a:off x="6199632" y="850392"/>
            <a:ext cx="2560320" cy="43891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Factor C: Match Venue</a:t>
            </a:r>
            <a:endParaRPr lang="en-US" sz="1300" dirty="0"/>
          </a:p>
        </p:txBody>
      </p:sp>
      <p:sp>
        <p:nvSpPr>
          <p:cNvPr id="25" name="Text 23"/>
          <p:cNvSpPr/>
          <p:nvPr/>
        </p:nvSpPr>
        <p:spPr>
          <a:xfrm>
            <a:off x="6217920" y="1444752"/>
            <a:ext cx="2514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h_a column</a:t>
            </a:r>
            <a:endParaRPr lang="en-US" sz="1100" dirty="0"/>
          </a:p>
          <a:p>
            <a:pPr marL="0" indent="0" algn="ctr">
              <a:buNone/>
            </a:pPr>
            <a:r>
              <a:rPr lang="en-US" sz="110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(home or away)</a:t>
            </a:r>
            <a:endParaRPr lang="en-US" sz="1100" dirty="0"/>
          </a:p>
        </p:txBody>
      </p:sp>
      <p:sp>
        <p:nvSpPr>
          <p:cNvPr id="26" name="Shape 24"/>
          <p:cNvSpPr/>
          <p:nvPr/>
        </p:nvSpPr>
        <p:spPr>
          <a:xfrm>
            <a:off x="6263640" y="2148840"/>
            <a:ext cx="2423160" cy="640080"/>
          </a:xfrm>
          <a:prstGeom prst="roundRect">
            <a:avLst>
              <a:gd name="adj" fmla="val 8571"/>
            </a:avLst>
          </a:prstGeom>
          <a:solidFill>
            <a:srgbClr val="E8F4F8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7" name="Text 25"/>
          <p:cNvSpPr/>
          <p:nvPr/>
        </p:nvSpPr>
        <p:spPr>
          <a:xfrm>
            <a:off x="6309360" y="217627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(-) Low: Away match</a:t>
            </a:r>
            <a:endParaRPr lang="en-US" sz="1100" dirty="0"/>
          </a:p>
        </p:txBody>
      </p:sp>
      <p:sp>
        <p:nvSpPr>
          <p:cNvPr id="28" name="Shape 26"/>
          <p:cNvSpPr/>
          <p:nvPr/>
        </p:nvSpPr>
        <p:spPr>
          <a:xfrm>
            <a:off x="6263640" y="2926080"/>
            <a:ext cx="2423160" cy="640080"/>
          </a:xfrm>
          <a:prstGeom prst="roundRect">
            <a:avLst>
              <a:gd name="adj" fmla="val 8571"/>
            </a:avLst>
          </a:prstGeom>
          <a:solidFill>
            <a:srgbClr val="E8F5E9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9" name="Text 27"/>
          <p:cNvSpPr/>
          <p:nvPr/>
        </p:nvSpPr>
        <p:spPr>
          <a:xfrm>
            <a:off x="6309360" y="2953512"/>
            <a:ext cx="2331720" cy="5852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(+) High: Home match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6217920" y="3703320"/>
            <a:ext cx="2514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50" i="1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 ~ 400-800 matches per cell</a:t>
            </a:r>
            <a:endParaRPr lang="en-US" sz="950" dirty="0"/>
          </a:p>
        </p:txBody>
      </p:sp>
      <p:sp>
        <p:nvSpPr>
          <p:cNvPr id="31" name="Text 29"/>
          <p:cNvSpPr/>
          <p:nvPr/>
        </p:nvSpPr>
        <p:spPr>
          <a:xfrm>
            <a:off x="274320" y="4800600"/>
            <a:ext cx="859536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Block: Season (2014-2019)  |  Response: Y = log(goals scored + 1)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Data and Descriptive Statistics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777240"/>
          <a:ext cx="502920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577840" y="777240"/>
            <a:ext cx="329184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Text 3"/>
          <p:cNvSpPr/>
          <p:nvPr/>
        </p:nvSpPr>
        <p:spPr>
          <a:xfrm>
            <a:off x="5669280" y="868680"/>
            <a:ext cx="310896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Descriptive Facts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5623560" y="1371600"/>
            <a:ext cx="201168" cy="201168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5897880" y="1335024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3,786 EPL match observations after PPDA filtering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5623560" y="1847088"/>
            <a:ext cx="201168" cy="201168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5897880" y="1810512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~20% of matches end 0-0 (drives log transformation)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5623560" y="2322576"/>
            <a:ext cx="201168" cy="201168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897880" y="2286000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press cells average 0.13 more log-units than low press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5623560" y="2798064"/>
            <a:ext cx="201168" cy="201168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5897880" y="2761488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final third cells average 0.19 more log-units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5623560" y="3273552"/>
            <a:ext cx="201168" cy="201168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5897880" y="3236976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Home advantage adds ~0.14 log-units on average</a:t>
            </a:r>
            <a:endParaRPr lang="en-US" sz="1050" dirty="0"/>
          </a:p>
        </p:txBody>
      </p:sp>
      <p:sp>
        <p:nvSpPr>
          <p:cNvPr id="17" name="Shape 14"/>
          <p:cNvSpPr/>
          <p:nvPr/>
        </p:nvSpPr>
        <p:spPr>
          <a:xfrm>
            <a:off x="5623560" y="3749040"/>
            <a:ext cx="201168" cy="201168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8" name="Text 15"/>
          <p:cNvSpPr/>
          <p:nvPr/>
        </p:nvSpPr>
        <p:spPr>
          <a:xfrm>
            <a:off x="5897880" y="3712464"/>
            <a:ext cx="288036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Season block is significant (p = 0.043)</a:t>
            </a:r>
            <a:endParaRPr lang="en-US" sz="10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ANOVA Results: Full 2^3 Model</a:t>
            </a:r>
            <a:endParaRPr lang="en-US" sz="2200" dirty="0"/>
          </a:p>
        </p:txBody>
      </p:sp>
      <p:graphicFrame>
        <p:nvGraphicFramePr>
          <p:cNvPr id="6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777240"/>
          <a:ext cx="5943600" cy="3931920"/>
        </p:xfrm>
        <a:graphic>
          <a:graphicData uri="http://schemas.openxmlformats.org/drawingml/2006/table">
            <a:tbl>
              <a:tblPr/>
              <a:tblGrid>
                <a:gridCol w="18288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57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8288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df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 value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Decision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6B3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Pressing (A)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33.21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Third (B)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77.08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Venue (C)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37.35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***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x B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10.34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0.001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**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x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0.452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 x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0.617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 x B x C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0.38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0.539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Not significant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436880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Season (Block)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5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2.30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0.043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100" dirty="0">
                          <a:solidFill>
                            <a:srgbClr val="0D1B2A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Significant *</a:t>
                      </a:r>
                      <a:endParaRPr lang="en-US" sz="11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CCC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6400800" y="777240"/>
            <a:ext cx="2468880" cy="3931920"/>
          </a:xfrm>
          <a:prstGeom prst="rect">
            <a:avLst/>
          </a:prstGeom>
          <a:solidFill>
            <a:srgbClr val="0D1B2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4" name="Text 3"/>
          <p:cNvSpPr/>
          <p:nvPr/>
        </p:nvSpPr>
        <p:spPr>
          <a:xfrm>
            <a:off x="6492240" y="868680"/>
            <a:ext cx="22860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b="1" dirty="0">
                <a:solidFill>
                  <a:srgbClr val="2ECC7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Key Findings</a:t>
            </a:r>
            <a:endParaRPr lang="en-US" sz="1300" dirty="0"/>
          </a:p>
        </p:txBody>
      </p:sp>
      <p:sp>
        <p:nvSpPr>
          <p:cNvPr id="7" name="Shape 4"/>
          <p:cNvSpPr/>
          <p:nvPr/>
        </p:nvSpPr>
        <p:spPr>
          <a:xfrm>
            <a:off x="6492240" y="1389888"/>
            <a:ext cx="182880" cy="18288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5"/>
          <p:cNvSpPr/>
          <p:nvPr/>
        </p:nvSpPr>
        <p:spPr>
          <a:xfrm>
            <a:off x="6748272" y="1353312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main effects significant at p &lt; 0.001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6492240" y="1956816"/>
            <a:ext cx="182880" cy="18288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0" name="Text 7"/>
          <p:cNvSpPr/>
          <p:nvPr/>
        </p:nvSpPr>
        <p:spPr>
          <a:xfrm>
            <a:off x="6748272" y="1920240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Third (B) is the strongest factor (F = 77)</a:t>
            </a:r>
            <a:endParaRPr lang="en-US" sz="1050" dirty="0"/>
          </a:p>
        </p:txBody>
      </p:sp>
      <p:sp>
        <p:nvSpPr>
          <p:cNvPr id="11" name="Shape 8"/>
          <p:cNvSpPr/>
          <p:nvPr/>
        </p:nvSpPr>
        <p:spPr>
          <a:xfrm>
            <a:off x="6492240" y="2523744"/>
            <a:ext cx="182880" cy="18288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6748272" y="2487168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x Final Third interaction is significant</a:t>
            </a:r>
            <a:endParaRPr lang="en-US" sz="1050" dirty="0"/>
          </a:p>
        </p:txBody>
      </p:sp>
      <p:sp>
        <p:nvSpPr>
          <p:cNvPr id="13" name="Shape 10"/>
          <p:cNvSpPr/>
          <p:nvPr/>
        </p:nvSpPr>
        <p:spPr>
          <a:xfrm>
            <a:off x="6492240" y="3090672"/>
            <a:ext cx="182880" cy="18288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1"/>
          <p:cNvSpPr/>
          <p:nvPr/>
        </p:nvSpPr>
        <p:spPr>
          <a:xfrm>
            <a:off x="6748272" y="3054096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AC, BC, ABC interactions are not significant</a:t>
            </a:r>
            <a:endParaRPr lang="en-US" sz="1050" dirty="0"/>
          </a:p>
        </p:txBody>
      </p:sp>
      <p:sp>
        <p:nvSpPr>
          <p:cNvPr id="15" name="Shape 12"/>
          <p:cNvSpPr/>
          <p:nvPr/>
        </p:nvSpPr>
        <p:spPr>
          <a:xfrm>
            <a:off x="6492240" y="3657600"/>
            <a:ext cx="182880" cy="182880"/>
          </a:xfrm>
          <a:prstGeom prst="ellipse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3"/>
          <p:cNvSpPr/>
          <p:nvPr/>
        </p:nvSpPr>
        <p:spPr>
          <a:xfrm>
            <a:off x="6748272" y="3621024"/>
            <a:ext cx="201168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reduced to A + B + C + AB</a:t>
            </a:r>
            <a:endParaRPr lang="en-US" sz="10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Key Finding: Pressing x Final Third Interaction</a:t>
            </a:r>
            <a:endParaRPr lang="en-US" sz="2200" dirty="0"/>
          </a:p>
        </p:txBody>
      </p:sp>
      <p:graphicFrame>
        <p:nvGraphicFramePr>
          <p:cNvPr id="4" name="Chart 0"/>
          <p:cNvGraphicFramePr/>
          <p:nvPr/>
        </p:nvGraphicFramePr>
        <p:xfrm>
          <a:off x="274320" y="822960"/>
          <a:ext cx="5303520" cy="36576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" name="Shape 2"/>
          <p:cNvSpPr/>
          <p:nvPr/>
        </p:nvSpPr>
        <p:spPr>
          <a:xfrm>
            <a:off x="5760720" y="822960"/>
            <a:ext cx="3154680" cy="365760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6" name="Shape 3"/>
          <p:cNvSpPr/>
          <p:nvPr/>
        </p:nvSpPr>
        <p:spPr>
          <a:xfrm>
            <a:off x="5760720" y="822960"/>
            <a:ext cx="3154680" cy="411480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4"/>
          <p:cNvSpPr/>
          <p:nvPr/>
        </p:nvSpPr>
        <p:spPr>
          <a:xfrm>
            <a:off x="5852160" y="850392"/>
            <a:ext cx="2971800" cy="35661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the interaction means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5806440" y="1371600"/>
            <a:ext cx="3017520" cy="868680"/>
          </a:xfrm>
          <a:prstGeom prst="rect">
            <a:avLst/>
          </a:prstGeom>
          <a:solidFill>
            <a:srgbClr val="E8F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9" name="Text 6"/>
          <p:cNvSpPr/>
          <p:nvPr/>
        </p:nvSpPr>
        <p:spPr>
          <a:xfrm>
            <a:off x="5870448" y="1389888"/>
            <a:ext cx="2889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Non-parallel lines confirm interaction (p = 0.001)</a:t>
            </a:r>
            <a:endParaRPr lang="en-US" sz="1050" dirty="0"/>
          </a:p>
        </p:txBody>
      </p:sp>
      <p:sp>
        <p:nvSpPr>
          <p:cNvPr id="10" name="Text 7"/>
          <p:cNvSpPr/>
          <p:nvPr/>
        </p:nvSpPr>
        <p:spPr>
          <a:xfrm>
            <a:off x="5870448" y="1673352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gap between high and low final third entries is larger at high press than at low press.</a:t>
            </a:r>
            <a:endParaRPr lang="en-US" sz="1000" dirty="0"/>
          </a:p>
        </p:txBody>
      </p:sp>
      <p:sp>
        <p:nvSpPr>
          <p:cNvPr id="11" name="Shape 8"/>
          <p:cNvSpPr/>
          <p:nvPr/>
        </p:nvSpPr>
        <p:spPr>
          <a:xfrm>
            <a:off x="5806440" y="2377440"/>
            <a:ext cx="3017520" cy="868680"/>
          </a:xfrm>
          <a:prstGeom prst="rect">
            <a:avLst/>
          </a:prstGeom>
          <a:solidFill>
            <a:srgbClr val="E8F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2" name="Text 9"/>
          <p:cNvSpPr/>
          <p:nvPr/>
        </p:nvSpPr>
        <p:spPr>
          <a:xfrm>
            <a:off x="5870448" y="2395728"/>
            <a:ext cx="2889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Pressing alone is not enough</a:t>
            </a:r>
            <a:endParaRPr lang="en-US" sz="1050" dirty="0"/>
          </a:p>
        </p:txBody>
      </p:sp>
      <p:sp>
        <p:nvSpPr>
          <p:cNvPr id="13" name="Text 10"/>
          <p:cNvSpPr/>
          <p:nvPr/>
        </p:nvSpPr>
        <p:spPr>
          <a:xfrm>
            <a:off x="5870448" y="2679192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When final third entries are low, switching to high press adds only 0.08 log-units of goals.</a:t>
            </a:r>
            <a:endParaRPr lang="en-US" sz="1000" dirty="0"/>
          </a:p>
        </p:txBody>
      </p:sp>
      <p:sp>
        <p:nvSpPr>
          <p:cNvPr id="14" name="Shape 11"/>
          <p:cNvSpPr/>
          <p:nvPr/>
        </p:nvSpPr>
        <p:spPr>
          <a:xfrm>
            <a:off x="5806440" y="3383280"/>
            <a:ext cx="3017520" cy="868680"/>
          </a:xfrm>
          <a:prstGeom prst="rect">
            <a:avLst/>
          </a:prstGeom>
          <a:solidFill>
            <a:srgbClr val="E8F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5" name="Text 12"/>
          <p:cNvSpPr/>
          <p:nvPr/>
        </p:nvSpPr>
        <p:spPr>
          <a:xfrm>
            <a:off x="5870448" y="3401568"/>
            <a:ext cx="2889504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combination is what matters</a:t>
            </a:r>
            <a:endParaRPr lang="en-US" sz="1050" dirty="0"/>
          </a:p>
        </p:txBody>
      </p:sp>
      <p:sp>
        <p:nvSpPr>
          <p:cNvPr id="16" name="Text 13"/>
          <p:cNvSpPr/>
          <p:nvPr/>
        </p:nvSpPr>
        <p:spPr>
          <a:xfrm>
            <a:off x="5870448" y="3685032"/>
            <a:ext cx="2889504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press + high final third adds 0.37 log-units versus low press + low final third.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Reduced Model and Residual Diagnostics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22960"/>
            <a:ext cx="411480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896112"/>
            <a:ext cx="384048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Reduced Model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11480" y="1325880"/>
            <a:ext cx="3840480" cy="640080"/>
          </a:xfrm>
          <a:prstGeom prst="rect">
            <a:avLst/>
          </a:prstGeom>
          <a:solidFill>
            <a:srgbClr val="E8F0EC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7" name="Text 5"/>
          <p:cNvSpPr/>
          <p:nvPr/>
        </p:nvSpPr>
        <p:spPr>
          <a:xfrm>
            <a:off x="457200" y="1371600"/>
            <a:ext cx="374904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1B6B3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Y = u + A + B + C + AB + Season + 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411480" y="2103120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terms were dropped: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502920" y="2487168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 (Pressing x Venue): F = 0.57, p = 0.452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502920" y="2889504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BC (Final Third x Venue): F = 0.25, p = 0.617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502920" y="3291840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ABC (three-way): F = 0.38, p = 0.539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502920" y="3694176"/>
            <a:ext cx="365760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 dropped by hierarchy of effects principle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411480" y="4370832"/>
            <a:ext cx="384048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1B6B3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MSE unchanged at 0.375 after reduction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822960"/>
            <a:ext cx="4206240" cy="393192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Text 13"/>
          <p:cNvSpPr/>
          <p:nvPr/>
        </p:nvSpPr>
        <p:spPr>
          <a:xfrm>
            <a:off x="4800600" y="896112"/>
            <a:ext cx="3931920" cy="34747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Residual Diagnostics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754880" y="1389888"/>
            <a:ext cx="1005840" cy="56692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4754880" y="1417320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Q-Q Plot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5852160" y="1389888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follow the reference line with mild tail deviation, consistent with count data after transformation.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194560"/>
            <a:ext cx="1005840" cy="56692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0" name="Text 18"/>
          <p:cNvSpPr/>
          <p:nvPr/>
        </p:nvSpPr>
        <p:spPr>
          <a:xfrm>
            <a:off x="4754880" y="2221992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Shapiro-Wilk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852160" y="2194560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 = 0.981, p = 0.042 on 4,999 sampled residuals. Borderline but expected at this sample size.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754880" y="2999232"/>
            <a:ext cx="1005840" cy="566928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3" name="Text 21"/>
          <p:cNvSpPr/>
          <p:nvPr/>
        </p:nvSpPr>
        <p:spPr>
          <a:xfrm>
            <a:off x="4754880" y="3026664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Residuals vs Fitted</a:t>
            </a:r>
            <a:endParaRPr lang="en-US" sz="1050" dirty="0"/>
          </a:p>
        </p:txBody>
      </p:sp>
      <p:sp>
        <p:nvSpPr>
          <p:cNvPr id="24" name="Text 22"/>
          <p:cNvSpPr/>
          <p:nvPr/>
        </p:nvSpPr>
        <p:spPr>
          <a:xfrm>
            <a:off x="5852160" y="2999232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visible pattern or funnel shape. Constant variance assumption appears satisfied.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3803904"/>
            <a:ext cx="1005840" cy="566928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6" name="Text 24"/>
          <p:cNvSpPr/>
          <p:nvPr/>
        </p:nvSpPr>
        <p:spPr>
          <a:xfrm>
            <a:off x="4754880" y="3831336"/>
            <a:ext cx="1005840" cy="512064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0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Verdict</a:t>
            </a:r>
            <a:endParaRPr lang="en-US" sz="1050" dirty="0"/>
          </a:p>
        </p:txBody>
      </p:sp>
      <p:sp>
        <p:nvSpPr>
          <p:cNvPr id="27" name="Text 25"/>
          <p:cNvSpPr/>
          <p:nvPr/>
        </p:nvSpPr>
        <p:spPr>
          <a:xfrm>
            <a:off x="5852160" y="3803904"/>
            <a:ext cx="288036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Residual diagnostics do not reveal violations serious enough to invalidate the ANOVA conclusions.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Discussion: What the Results Mean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86868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5" name="Shape 3"/>
          <p:cNvSpPr/>
          <p:nvPr/>
        </p:nvSpPr>
        <p:spPr>
          <a:xfrm>
            <a:off x="274320" y="868680"/>
            <a:ext cx="502920" cy="1783080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6" name="Text 4"/>
          <p:cNvSpPr/>
          <p:nvPr/>
        </p:nvSpPr>
        <p:spPr>
          <a:xfrm>
            <a:off x="292608" y="1417320"/>
            <a:ext cx="466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868680" y="94183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Pressing Works, But Not in Isolation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868680" y="137160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significant AB interaction shows pressing yields much larger gains when combined with high final third entries. A team that presses without penetrating converts fewer ball recoveries into goals.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4709160" y="86868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0" name="Shape 8"/>
          <p:cNvSpPr/>
          <p:nvPr/>
        </p:nvSpPr>
        <p:spPr>
          <a:xfrm>
            <a:off x="4709160" y="868680"/>
            <a:ext cx="502920" cy="1783080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727448" y="1417320"/>
            <a:ext cx="466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</a:t>
            </a:r>
            <a:endParaRPr lang="en-US" sz="2200" dirty="0"/>
          </a:p>
        </p:txBody>
      </p:sp>
      <p:sp>
        <p:nvSpPr>
          <p:cNvPr id="12" name="Text 10"/>
          <p:cNvSpPr/>
          <p:nvPr/>
        </p:nvSpPr>
        <p:spPr>
          <a:xfrm>
            <a:off x="5303520" y="94183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Final Third Entries Is the Dominant Factor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303520" y="137160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highest F-statistic (F = 77.08) belongs to final third entries, not pressing. Getting the ball into dangerous areas is more directly tied to goals than winning it back defensively.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274320" y="283464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5" name="Shape 13"/>
          <p:cNvSpPr/>
          <p:nvPr/>
        </p:nvSpPr>
        <p:spPr>
          <a:xfrm>
            <a:off x="274320" y="2834640"/>
            <a:ext cx="502920" cy="1783080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6" name="Text 14"/>
          <p:cNvSpPr/>
          <p:nvPr/>
        </p:nvSpPr>
        <p:spPr>
          <a:xfrm>
            <a:off x="292608" y="3383280"/>
            <a:ext cx="466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868680" y="290779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Home Advantage Is as Large as Pressing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868680" y="333756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home/away effect (F = 37.35) is comparable in size to pressing (F = 33.21), giving a useful calibration: choosing to press aggressively matters about as much as playing at home.</a:t>
            </a:r>
            <a:endParaRPr lang="en-US" sz="1050" dirty="0"/>
          </a:p>
        </p:txBody>
      </p:sp>
      <p:sp>
        <p:nvSpPr>
          <p:cNvPr id="19" name="Shape 17"/>
          <p:cNvSpPr/>
          <p:nvPr/>
        </p:nvSpPr>
        <p:spPr>
          <a:xfrm>
            <a:off x="4709160" y="2834640"/>
            <a:ext cx="4206240" cy="1783080"/>
          </a:xfrm>
          <a:prstGeom prst="rect">
            <a:avLst/>
          </a:prstGeom>
          <a:solidFill>
            <a:srgbClr val="FFFFFF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20" name="Shape 18"/>
          <p:cNvSpPr/>
          <p:nvPr/>
        </p:nvSpPr>
        <p:spPr>
          <a:xfrm>
            <a:off x="4709160" y="2834640"/>
            <a:ext cx="502920" cy="1783080"/>
          </a:xfrm>
          <a:prstGeom prst="rect">
            <a:avLst/>
          </a:prstGeom>
          <a:solidFill>
            <a:srgbClr val="B85042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21" name="Text 19"/>
          <p:cNvSpPr/>
          <p:nvPr/>
        </p:nvSpPr>
        <p:spPr>
          <a:xfrm>
            <a:off x="4727448" y="3383280"/>
            <a:ext cx="466344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!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303520" y="2907792"/>
            <a:ext cx="352044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Limitations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303520" y="3337560"/>
            <a:ext cx="3520440" cy="11887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0" indent="0">
              <a:buNone/>
            </a:pPr>
            <a:r>
              <a:rPr lang="en-US" sz="1050" dirty="0">
                <a:solidFill>
                  <a:srgbClr val="64748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Observational data means factors are not randomly assigned. Teams with low PPDA may face stronger opponents. Causal claims require caution. Data ends at 2019.</a:t>
            </a:r>
            <a:endParaRPr lang="en-US" sz="10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1B6B3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411480" y="274320"/>
            <a:ext cx="822960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Conclusion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411480" y="960120"/>
            <a:ext cx="347472" cy="34747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5" name="Text 3"/>
          <p:cNvSpPr/>
          <p:nvPr/>
        </p:nvSpPr>
        <p:spPr>
          <a:xfrm>
            <a:off x="411480" y="978408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868680" y="941832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3 main effects (pressing, final third, venue) are significant at p &lt; 0.001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411480" y="1709928"/>
            <a:ext cx="347472" cy="34747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8" name="Text 6"/>
          <p:cNvSpPr/>
          <p:nvPr/>
        </p:nvSpPr>
        <p:spPr>
          <a:xfrm>
            <a:off x="411480" y="1728216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1400" dirty="0"/>
          </a:p>
        </p:txBody>
      </p:sp>
      <p:sp>
        <p:nvSpPr>
          <p:cNvPr id="9" name="Text 7"/>
          <p:cNvSpPr/>
          <p:nvPr/>
        </p:nvSpPr>
        <p:spPr>
          <a:xfrm>
            <a:off x="868680" y="1691640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Pressing x Final Third interaction is significant (p = 0.001): pressing is most effective when combined with high field penetration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" y="2459736"/>
            <a:ext cx="347472" cy="34747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1" name="Text 9"/>
          <p:cNvSpPr/>
          <p:nvPr/>
        </p:nvSpPr>
        <p:spPr>
          <a:xfrm>
            <a:off x="411480" y="2478024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868680" y="2441448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three-way and remaining two-way interactions are not significant and are excluded from the reduced model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11480" y="3209544"/>
            <a:ext cx="347472" cy="347472"/>
          </a:xfrm>
          <a:prstGeom prst="rect">
            <a:avLst/>
          </a:prstGeom>
          <a:solidFill>
            <a:srgbClr val="2ECC71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14" name="Text 12"/>
          <p:cNvSpPr/>
          <p:nvPr/>
        </p:nvSpPr>
        <p:spPr>
          <a:xfrm>
            <a:off x="411480" y="3227832"/>
            <a:ext cx="347472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0D1B2A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868680" y="3191256"/>
            <a:ext cx="781812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300" dirty="0">
                <a:solidFill>
                  <a:srgbClr val="F0F4F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third entries is the single strongest driver of goals in this dataset (F = 77.08)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411480" y="4114800"/>
            <a:ext cx="8366760" cy="777240"/>
          </a:xfrm>
          <a:prstGeom prst="rect">
            <a:avLst/>
          </a:prstGeom>
          <a:solidFill>
            <a:srgbClr val="1B6B3A"/>
          </a:solidFill>
          <a:ln/>
          <a:effectLst>
            <a:outerShdw blurRad="101600" dist="38100" dir="8100000" algn="bl" rotWithShape="0">
              <a:srgbClr val="000000">
                <a:alpha val="18000"/>
              </a:srgbClr>
            </a:outerShdw>
          </a:effectLst>
        </p:spPr>
        <p:txBody>
          <a:bodyPr/>
          <a:lstStyle/>
          <a:p>
            <a:endParaRPr lang="en-IN"/>
          </a:p>
        </p:txBody>
      </p:sp>
      <p:sp>
        <p:nvSpPr>
          <p:cNvPr id="17" name="Text 15"/>
          <p:cNvSpPr/>
          <p:nvPr/>
        </p:nvSpPr>
        <p:spPr>
          <a:xfrm>
            <a:off x="548640" y="4160520"/>
            <a:ext cx="809244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200" i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Practical implication: coaching investments in pressing should be paired with positional and combinational play that converts ball recoveries into final third entries. Pressing alone will not maximize goal output.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685800"/>
          </a:xfrm>
          <a:prstGeom prst="rect">
            <a:avLst/>
          </a:prstGeom>
          <a:solidFill>
            <a:srgbClr val="0D1B2A"/>
          </a:solidFill>
          <a:ln/>
        </p:spPr>
        <p:txBody>
          <a:bodyPr/>
          <a:lstStyle/>
          <a:p>
            <a:endParaRPr lang="en-IN"/>
          </a:p>
        </p:txBody>
      </p:sp>
      <p:sp>
        <p:nvSpPr>
          <p:cNvPr id="3" name="Text 1"/>
          <p:cNvSpPr/>
          <p:nvPr/>
        </p:nvSpPr>
        <p:spPr>
          <a:xfrm>
            <a:off x="274320" y="9144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2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References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457200" y="8229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Andrienko, G., et al. (2017). Visual analysis of pressure in football. Data Mining and Knowledge Discovery, 31(6), 1793-1839.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457200" y="134416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Box, G. E. P., &amp; Cox, D. R. (1964). An analysis of transformations. JRSS-B, 26(2), 211-252.</a:t>
            </a:r>
            <a:endParaRPr lang="en-US" sz="1050" dirty="0"/>
          </a:p>
        </p:txBody>
      </p:sp>
      <p:sp>
        <p:nvSpPr>
          <p:cNvPr id="6" name="Text 4"/>
          <p:cNvSpPr/>
          <p:nvPr/>
        </p:nvSpPr>
        <p:spPr>
          <a:xfrm>
            <a:off x="457200" y="186537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Bray, S. R., &amp; Hawkins, A. R. (2020). Home advantage in football: Evidence from COVID-19. Psychology of Sport and Exercise, 50, 101766.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457200" y="2386584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Caley, M. (2015). Premier League projections and expected goals. Cartilage Free Captain.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57200" y="2907792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Clarke, S. R., &amp; Norman, J. M. (1995). Home ground advantage of individual clubs in English soccer. The Statistician, 44(4), 509-521.</a:t>
            </a:r>
            <a:endParaRPr lang="en-US" sz="1050" dirty="0"/>
          </a:p>
        </p:txBody>
      </p:sp>
      <p:sp>
        <p:nvSpPr>
          <p:cNvPr id="9" name="Text 7"/>
          <p:cNvSpPr/>
          <p:nvPr/>
        </p:nvSpPr>
        <p:spPr>
          <a:xfrm>
            <a:off x="457200" y="342900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Lehkyi, S. (2020). Football data: Expected goals and other metrics [Data set]. Kaggle.</a:t>
            </a:r>
            <a:endParaRPr lang="en-US" sz="1050" dirty="0"/>
          </a:p>
        </p:txBody>
      </p:sp>
      <p:sp>
        <p:nvSpPr>
          <p:cNvPr id="10" name="Text 8"/>
          <p:cNvSpPr/>
          <p:nvPr/>
        </p:nvSpPr>
        <p:spPr>
          <a:xfrm>
            <a:off x="457200" y="3950208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Montgomery, D. C. (2017). Design and analysis of experiments (9th ed.). John Wiley and Sons.</a:t>
            </a:r>
            <a:endParaRPr lang="en-US" sz="1050" dirty="0"/>
          </a:p>
        </p:txBody>
      </p:sp>
      <p:sp>
        <p:nvSpPr>
          <p:cNvPr id="11" name="Text 9"/>
          <p:cNvSpPr/>
          <p:nvPr/>
        </p:nvSpPr>
        <p:spPr>
          <a:xfrm>
            <a:off x="457200" y="4471416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50" dirty="0">
                <a:solidFill>
                  <a:srgbClr val="0D1B2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StatsBomb Research. (2014). Introducing PPDA. StatsBomb.</a:t>
            </a:r>
            <a:endParaRPr lang="en-US" sz="10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66</TotalTime>
  <Words>1184</Words>
  <Application>Microsoft Office PowerPoint</Application>
  <PresentationFormat>On-screen Show (16:9)</PresentationFormat>
  <Paragraphs>174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5" baseType="lpstr">
      <vt:lpstr>Arial</vt:lpstr>
      <vt:lpstr>Calibri</vt:lpstr>
      <vt:lpstr>Courier New</vt:lpstr>
      <vt:lpstr>Georgia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EPL Goals Factorial Study</dc:title>
  <dc:subject>PptxGenJS Presentation</dc:subject>
  <dc:creator>Mayank Waghmare</dc:creator>
  <cp:lastModifiedBy>Mayank Waghmare</cp:lastModifiedBy>
  <cp:revision>2</cp:revision>
  <dcterms:created xsi:type="dcterms:W3CDTF">2026-05-04T15:26:40Z</dcterms:created>
  <dcterms:modified xsi:type="dcterms:W3CDTF">2026-05-04T16:37:38Z</dcterms:modified>
</cp:coreProperties>
</file>